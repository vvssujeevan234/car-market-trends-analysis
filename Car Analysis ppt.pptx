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3"/>
  </p:notesMasterIdLst>
  <p:handoutMasterIdLst>
    <p:handoutMasterId r:id="rId24"/>
  </p:handoutMasterIdLst>
  <p:sldIdLst>
    <p:sldId id="338" r:id="rId5"/>
    <p:sldId id="327" r:id="rId6"/>
    <p:sldId id="315" r:id="rId7"/>
    <p:sldId id="341" r:id="rId8"/>
    <p:sldId id="329" r:id="rId9"/>
    <p:sldId id="302" r:id="rId10"/>
    <p:sldId id="342" r:id="rId11"/>
    <p:sldId id="339" r:id="rId12"/>
    <p:sldId id="346" r:id="rId13"/>
    <p:sldId id="340" r:id="rId14"/>
    <p:sldId id="343" r:id="rId15"/>
    <p:sldId id="344" r:id="rId16"/>
    <p:sldId id="345" r:id="rId17"/>
    <p:sldId id="347" r:id="rId18"/>
    <p:sldId id="348" r:id="rId19"/>
    <p:sldId id="349" r:id="rId20"/>
    <p:sldId id="350" r:id="rId21"/>
    <p:sldId id="30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6" d="100"/>
          <a:sy n="66" d="100"/>
        </p:scale>
        <p:origin x="588" y="4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8BD328-C01D-4F9B-A831-FB13BBC92B8A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33532B-5BA0-48B7-9CDD-76E98239B173}">
      <dgm:prSet phldrT="[Text]" phldr="0"/>
      <dgm:spPr/>
      <dgm:t>
        <a:bodyPr/>
        <a:lstStyle/>
        <a:p>
          <a:r>
            <a:rPr lang="en-US" dirty="0"/>
            <a:t>CarDekho Dataset</a:t>
          </a:r>
        </a:p>
      </dgm:t>
    </dgm:pt>
    <dgm:pt modelId="{0C53D4AF-2762-4FF2-BBFD-1DB06BCA4808}" type="parTrans" cxnId="{2FC9429C-EF2A-4FB2-9449-2F8E5FF60D26}">
      <dgm:prSet/>
      <dgm:spPr/>
      <dgm:t>
        <a:bodyPr/>
        <a:lstStyle/>
        <a:p>
          <a:endParaRPr lang="en-US"/>
        </a:p>
      </dgm:t>
    </dgm:pt>
    <dgm:pt modelId="{87757E0D-0A19-48C0-A722-0027D092A59F}" type="sibTrans" cxnId="{2FC9429C-EF2A-4FB2-9449-2F8E5FF60D26}">
      <dgm:prSet/>
      <dgm:spPr/>
      <dgm:t>
        <a:bodyPr/>
        <a:lstStyle/>
        <a:p>
          <a:endParaRPr lang="en-US"/>
        </a:p>
      </dgm:t>
    </dgm:pt>
    <dgm:pt modelId="{1F62B733-BD97-4697-8D1A-D254D97444D6}">
      <dgm:prSet phldrT="[Text]" phldr="0"/>
      <dgm:spPr/>
      <dgm:t>
        <a:bodyPr/>
        <a:lstStyle/>
        <a:p>
          <a:r>
            <a:rPr lang="en-US" dirty="0"/>
            <a:t>Data Processing</a:t>
          </a:r>
        </a:p>
      </dgm:t>
    </dgm:pt>
    <dgm:pt modelId="{8254D2E2-890D-47D4-8C22-86647CDC3EE9}" type="parTrans" cxnId="{7967EC7A-BA3E-4044-861F-5C6C1525E9E3}">
      <dgm:prSet/>
      <dgm:spPr/>
      <dgm:t>
        <a:bodyPr/>
        <a:lstStyle/>
        <a:p>
          <a:endParaRPr lang="en-US"/>
        </a:p>
      </dgm:t>
    </dgm:pt>
    <dgm:pt modelId="{513BB935-8153-4665-907D-DE163F6FC85D}" type="sibTrans" cxnId="{7967EC7A-BA3E-4044-861F-5C6C1525E9E3}">
      <dgm:prSet/>
      <dgm:spPr/>
      <dgm:t>
        <a:bodyPr/>
        <a:lstStyle/>
        <a:p>
          <a:endParaRPr lang="en-US"/>
        </a:p>
      </dgm:t>
    </dgm:pt>
    <dgm:pt modelId="{222AEE65-95D5-4B60-9FED-500D32726D8E}">
      <dgm:prSet phldrT="[Text]" phldr="0"/>
      <dgm:spPr/>
      <dgm:t>
        <a:bodyPr/>
        <a:lstStyle/>
        <a:p>
          <a:r>
            <a:rPr lang="en-US" dirty="0"/>
            <a:t>Data Analysis</a:t>
          </a:r>
        </a:p>
      </dgm:t>
    </dgm:pt>
    <dgm:pt modelId="{CA30FDAD-2282-4519-986A-4E1FA8B81BC9}" type="parTrans" cxnId="{1B13CC10-6F73-48A6-805E-1953CBBB93D3}">
      <dgm:prSet/>
      <dgm:spPr/>
      <dgm:t>
        <a:bodyPr/>
        <a:lstStyle/>
        <a:p>
          <a:endParaRPr lang="en-US"/>
        </a:p>
      </dgm:t>
    </dgm:pt>
    <dgm:pt modelId="{FA89C03B-AD5C-404E-A484-025D62B70DF4}" type="sibTrans" cxnId="{1B13CC10-6F73-48A6-805E-1953CBBB93D3}">
      <dgm:prSet/>
      <dgm:spPr/>
      <dgm:t>
        <a:bodyPr/>
        <a:lstStyle/>
        <a:p>
          <a:endParaRPr lang="en-US"/>
        </a:p>
      </dgm:t>
    </dgm:pt>
    <dgm:pt modelId="{2F5ABE22-E4BD-4AD2-84B2-47EB3B0173F2}">
      <dgm:prSet phldrT="[Text]" phldr="0"/>
      <dgm:spPr/>
      <dgm:t>
        <a:bodyPr/>
        <a:lstStyle/>
        <a:p>
          <a:r>
            <a:rPr lang="en-US" dirty="0"/>
            <a:t>Flask Backend</a:t>
          </a:r>
        </a:p>
      </dgm:t>
    </dgm:pt>
    <dgm:pt modelId="{D48EC6D4-53ED-4D6E-8109-4A3B887720B5}" type="parTrans" cxnId="{35073C2C-E4C1-47B6-8493-FB1D5AB901D7}">
      <dgm:prSet/>
      <dgm:spPr/>
      <dgm:t>
        <a:bodyPr/>
        <a:lstStyle/>
        <a:p>
          <a:endParaRPr lang="en-US"/>
        </a:p>
      </dgm:t>
    </dgm:pt>
    <dgm:pt modelId="{0F12B0BA-09D1-48C2-9166-B91DFB25BD06}" type="sibTrans" cxnId="{35073C2C-E4C1-47B6-8493-FB1D5AB901D7}">
      <dgm:prSet/>
      <dgm:spPr/>
      <dgm:t>
        <a:bodyPr/>
        <a:lstStyle/>
        <a:p>
          <a:endParaRPr lang="en-US"/>
        </a:p>
      </dgm:t>
    </dgm:pt>
    <dgm:pt modelId="{938B0543-0223-4869-9782-FEB9B2C3405A}">
      <dgm:prSet phldrT="[Text]" phldr="0"/>
      <dgm:spPr/>
      <dgm:t>
        <a:bodyPr/>
        <a:lstStyle/>
        <a:p>
          <a:r>
            <a:rPr lang="en-US" dirty="0"/>
            <a:t>Web Application</a:t>
          </a:r>
        </a:p>
      </dgm:t>
    </dgm:pt>
    <dgm:pt modelId="{B29A8294-A86C-4430-BD6A-01E35CE9E516}" type="parTrans" cxnId="{F3D5CB9C-5461-4EFF-BF38-CECBCC4BB8AE}">
      <dgm:prSet/>
      <dgm:spPr/>
      <dgm:t>
        <a:bodyPr/>
        <a:lstStyle/>
        <a:p>
          <a:endParaRPr lang="en-US"/>
        </a:p>
      </dgm:t>
    </dgm:pt>
    <dgm:pt modelId="{072FC468-B68B-45D5-B5E3-9DB65137CE38}" type="sibTrans" cxnId="{F3D5CB9C-5461-4EFF-BF38-CECBCC4BB8AE}">
      <dgm:prSet/>
      <dgm:spPr/>
      <dgm:t>
        <a:bodyPr/>
        <a:lstStyle/>
        <a:p>
          <a:endParaRPr lang="en-US"/>
        </a:p>
      </dgm:t>
    </dgm:pt>
    <dgm:pt modelId="{ED9C0C3A-306C-4FCE-9392-479D441063DF}">
      <dgm:prSet phldrT="[Text]" phldr="0"/>
      <dgm:spPr/>
      <dgm:t>
        <a:bodyPr/>
        <a:lstStyle/>
        <a:p>
          <a:r>
            <a:rPr lang="en-US" dirty="0"/>
            <a:t>Dashboard &amp; Visualization</a:t>
          </a:r>
        </a:p>
      </dgm:t>
    </dgm:pt>
    <dgm:pt modelId="{06A1DCB8-1676-413B-8811-D4876C1EB7D4}" type="parTrans" cxnId="{A8AB11A0-1551-43F3-9EED-077EB2311E3D}">
      <dgm:prSet/>
      <dgm:spPr/>
      <dgm:t>
        <a:bodyPr/>
        <a:lstStyle/>
        <a:p>
          <a:endParaRPr lang="en-US"/>
        </a:p>
      </dgm:t>
    </dgm:pt>
    <dgm:pt modelId="{E0C53427-3D70-4034-8B30-173EC9F067E1}" type="sibTrans" cxnId="{A8AB11A0-1551-43F3-9EED-077EB2311E3D}">
      <dgm:prSet/>
      <dgm:spPr/>
      <dgm:t>
        <a:bodyPr/>
        <a:lstStyle/>
        <a:p>
          <a:endParaRPr lang="en-US"/>
        </a:p>
      </dgm:t>
    </dgm:pt>
    <dgm:pt modelId="{C7BE8537-CCF7-4480-BD8E-3BFF346967FF}" type="pres">
      <dgm:prSet presAssocID="{E48BD328-C01D-4F9B-A831-FB13BBC92B8A}" presName="diagram" presStyleCnt="0">
        <dgm:presLayoutVars>
          <dgm:dir/>
          <dgm:resizeHandles val="exact"/>
        </dgm:presLayoutVars>
      </dgm:prSet>
      <dgm:spPr/>
    </dgm:pt>
    <dgm:pt modelId="{4EF13F57-5B6D-475F-BD26-93BE3FAD1EB3}" type="pres">
      <dgm:prSet presAssocID="{B233532B-5BA0-48B7-9CDD-76E98239B173}" presName="node" presStyleLbl="node1" presStyleIdx="0" presStyleCnt="6">
        <dgm:presLayoutVars>
          <dgm:bulletEnabled val="1"/>
        </dgm:presLayoutVars>
      </dgm:prSet>
      <dgm:spPr/>
    </dgm:pt>
    <dgm:pt modelId="{EB472B2A-5F2B-4217-9BAB-4AB55BAB9352}" type="pres">
      <dgm:prSet presAssocID="{87757E0D-0A19-48C0-A722-0027D092A59F}" presName="sibTrans" presStyleLbl="sibTrans2D1" presStyleIdx="0" presStyleCnt="5"/>
      <dgm:spPr/>
    </dgm:pt>
    <dgm:pt modelId="{4E93ACEA-90AE-42F8-A70A-B7BA868E8630}" type="pres">
      <dgm:prSet presAssocID="{87757E0D-0A19-48C0-A722-0027D092A59F}" presName="connectorText" presStyleLbl="sibTrans2D1" presStyleIdx="0" presStyleCnt="5"/>
      <dgm:spPr/>
    </dgm:pt>
    <dgm:pt modelId="{8CB17899-28B8-4CBA-BAD1-67DB7B3AFC77}" type="pres">
      <dgm:prSet presAssocID="{1F62B733-BD97-4697-8D1A-D254D97444D6}" presName="node" presStyleLbl="node1" presStyleIdx="1" presStyleCnt="6">
        <dgm:presLayoutVars>
          <dgm:bulletEnabled val="1"/>
        </dgm:presLayoutVars>
      </dgm:prSet>
      <dgm:spPr/>
    </dgm:pt>
    <dgm:pt modelId="{1A517B41-0D14-4C18-B7A9-33CDB303821D}" type="pres">
      <dgm:prSet presAssocID="{513BB935-8153-4665-907D-DE163F6FC85D}" presName="sibTrans" presStyleLbl="sibTrans2D1" presStyleIdx="1" presStyleCnt="5"/>
      <dgm:spPr/>
    </dgm:pt>
    <dgm:pt modelId="{BE0DB6E6-4D40-4EB7-9E58-546A8292BB9C}" type="pres">
      <dgm:prSet presAssocID="{513BB935-8153-4665-907D-DE163F6FC85D}" presName="connectorText" presStyleLbl="sibTrans2D1" presStyleIdx="1" presStyleCnt="5"/>
      <dgm:spPr/>
    </dgm:pt>
    <dgm:pt modelId="{4D8E6D19-B14F-4D12-8794-007947B2DF01}" type="pres">
      <dgm:prSet presAssocID="{222AEE65-95D5-4B60-9FED-500D32726D8E}" presName="node" presStyleLbl="node1" presStyleIdx="2" presStyleCnt="6">
        <dgm:presLayoutVars>
          <dgm:bulletEnabled val="1"/>
        </dgm:presLayoutVars>
      </dgm:prSet>
      <dgm:spPr/>
    </dgm:pt>
    <dgm:pt modelId="{EAABDA11-0D3C-4BDD-BE53-A72E9ADE79DF}" type="pres">
      <dgm:prSet presAssocID="{FA89C03B-AD5C-404E-A484-025D62B70DF4}" presName="sibTrans" presStyleLbl="sibTrans2D1" presStyleIdx="2" presStyleCnt="5"/>
      <dgm:spPr/>
    </dgm:pt>
    <dgm:pt modelId="{195E6789-D8C4-446C-8101-1A5DAD23B532}" type="pres">
      <dgm:prSet presAssocID="{FA89C03B-AD5C-404E-A484-025D62B70DF4}" presName="connectorText" presStyleLbl="sibTrans2D1" presStyleIdx="2" presStyleCnt="5"/>
      <dgm:spPr/>
    </dgm:pt>
    <dgm:pt modelId="{BA1DBFF9-3F54-4F51-A7BA-70E99CBD1A69}" type="pres">
      <dgm:prSet presAssocID="{2F5ABE22-E4BD-4AD2-84B2-47EB3B0173F2}" presName="node" presStyleLbl="node1" presStyleIdx="3" presStyleCnt="6">
        <dgm:presLayoutVars>
          <dgm:bulletEnabled val="1"/>
        </dgm:presLayoutVars>
      </dgm:prSet>
      <dgm:spPr/>
    </dgm:pt>
    <dgm:pt modelId="{ACEA2B57-3F8C-490C-9085-17A6755EE2B6}" type="pres">
      <dgm:prSet presAssocID="{0F12B0BA-09D1-48C2-9166-B91DFB25BD06}" presName="sibTrans" presStyleLbl="sibTrans2D1" presStyleIdx="3" presStyleCnt="5"/>
      <dgm:spPr/>
    </dgm:pt>
    <dgm:pt modelId="{AE58EDAA-99DA-4516-9AB1-3EC717D321F4}" type="pres">
      <dgm:prSet presAssocID="{0F12B0BA-09D1-48C2-9166-B91DFB25BD06}" presName="connectorText" presStyleLbl="sibTrans2D1" presStyleIdx="3" presStyleCnt="5"/>
      <dgm:spPr/>
    </dgm:pt>
    <dgm:pt modelId="{5B48BE95-ABA7-4D64-A423-34762E70D6E7}" type="pres">
      <dgm:prSet presAssocID="{938B0543-0223-4869-9782-FEB9B2C3405A}" presName="node" presStyleLbl="node1" presStyleIdx="4" presStyleCnt="6">
        <dgm:presLayoutVars>
          <dgm:bulletEnabled val="1"/>
        </dgm:presLayoutVars>
      </dgm:prSet>
      <dgm:spPr/>
    </dgm:pt>
    <dgm:pt modelId="{5F3C56DA-6C13-43F3-98CC-F4EFD35EA30C}" type="pres">
      <dgm:prSet presAssocID="{072FC468-B68B-45D5-B5E3-9DB65137CE38}" presName="sibTrans" presStyleLbl="sibTrans2D1" presStyleIdx="4" presStyleCnt="5"/>
      <dgm:spPr/>
    </dgm:pt>
    <dgm:pt modelId="{7F1D2CAE-1812-4A7F-AB93-90860A0A6E60}" type="pres">
      <dgm:prSet presAssocID="{072FC468-B68B-45D5-B5E3-9DB65137CE38}" presName="connectorText" presStyleLbl="sibTrans2D1" presStyleIdx="4" presStyleCnt="5"/>
      <dgm:spPr/>
    </dgm:pt>
    <dgm:pt modelId="{BB8E33D5-5944-4643-B7F0-89DE36D1B3A4}" type="pres">
      <dgm:prSet presAssocID="{ED9C0C3A-306C-4FCE-9392-479D441063DF}" presName="node" presStyleLbl="node1" presStyleIdx="5" presStyleCnt="6">
        <dgm:presLayoutVars>
          <dgm:bulletEnabled val="1"/>
        </dgm:presLayoutVars>
      </dgm:prSet>
      <dgm:spPr/>
    </dgm:pt>
  </dgm:ptLst>
  <dgm:cxnLst>
    <dgm:cxn modelId="{FD96E102-0F95-4CFB-808D-7E757405D752}" type="presOf" srcId="{E48BD328-C01D-4F9B-A831-FB13BBC92B8A}" destId="{C7BE8537-CCF7-4480-BD8E-3BFF346967FF}" srcOrd="0" destOrd="0" presId="urn:microsoft.com/office/officeart/2005/8/layout/process5"/>
    <dgm:cxn modelId="{2556E903-FC07-4A81-96CE-138EB503BAB1}" type="presOf" srcId="{FA89C03B-AD5C-404E-A484-025D62B70DF4}" destId="{EAABDA11-0D3C-4BDD-BE53-A72E9ADE79DF}" srcOrd="0" destOrd="0" presId="urn:microsoft.com/office/officeart/2005/8/layout/process5"/>
    <dgm:cxn modelId="{014D4405-7971-44C7-AC04-5AFF48EB9FC4}" type="presOf" srcId="{938B0543-0223-4869-9782-FEB9B2C3405A}" destId="{5B48BE95-ABA7-4D64-A423-34762E70D6E7}" srcOrd="0" destOrd="0" presId="urn:microsoft.com/office/officeart/2005/8/layout/process5"/>
    <dgm:cxn modelId="{0345000F-C7FC-493C-B41C-962C3718168E}" type="presOf" srcId="{0F12B0BA-09D1-48C2-9166-B91DFB25BD06}" destId="{AE58EDAA-99DA-4516-9AB1-3EC717D321F4}" srcOrd="1" destOrd="0" presId="urn:microsoft.com/office/officeart/2005/8/layout/process5"/>
    <dgm:cxn modelId="{1B13CC10-6F73-48A6-805E-1953CBBB93D3}" srcId="{E48BD328-C01D-4F9B-A831-FB13BBC92B8A}" destId="{222AEE65-95D5-4B60-9FED-500D32726D8E}" srcOrd="2" destOrd="0" parTransId="{CA30FDAD-2282-4519-986A-4E1FA8B81BC9}" sibTransId="{FA89C03B-AD5C-404E-A484-025D62B70DF4}"/>
    <dgm:cxn modelId="{A7A37520-FE9B-454E-843D-D2E596B9F272}" type="presOf" srcId="{2F5ABE22-E4BD-4AD2-84B2-47EB3B0173F2}" destId="{BA1DBFF9-3F54-4F51-A7BA-70E99CBD1A69}" srcOrd="0" destOrd="0" presId="urn:microsoft.com/office/officeart/2005/8/layout/process5"/>
    <dgm:cxn modelId="{5F443425-36A1-4475-B115-8BE602ABAA2C}" type="presOf" srcId="{B233532B-5BA0-48B7-9CDD-76E98239B173}" destId="{4EF13F57-5B6D-475F-BD26-93BE3FAD1EB3}" srcOrd="0" destOrd="0" presId="urn:microsoft.com/office/officeart/2005/8/layout/process5"/>
    <dgm:cxn modelId="{35073C2C-E4C1-47B6-8493-FB1D5AB901D7}" srcId="{E48BD328-C01D-4F9B-A831-FB13BBC92B8A}" destId="{2F5ABE22-E4BD-4AD2-84B2-47EB3B0173F2}" srcOrd="3" destOrd="0" parTransId="{D48EC6D4-53ED-4D6E-8109-4A3B887720B5}" sibTransId="{0F12B0BA-09D1-48C2-9166-B91DFB25BD06}"/>
    <dgm:cxn modelId="{059AC340-45FD-4D16-B7BA-BBA209DA92F7}" type="presOf" srcId="{513BB935-8153-4665-907D-DE163F6FC85D}" destId="{BE0DB6E6-4D40-4EB7-9E58-546A8292BB9C}" srcOrd="1" destOrd="0" presId="urn:microsoft.com/office/officeart/2005/8/layout/process5"/>
    <dgm:cxn modelId="{77705F4F-BBFD-4BC4-AEB7-B8A6F22ADC63}" type="presOf" srcId="{072FC468-B68B-45D5-B5E3-9DB65137CE38}" destId="{5F3C56DA-6C13-43F3-98CC-F4EFD35EA30C}" srcOrd="0" destOrd="0" presId="urn:microsoft.com/office/officeart/2005/8/layout/process5"/>
    <dgm:cxn modelId="{D012DD54-81DA-420A-ABD4-FAF445456A2C}" type="presOf" srcId="{87757E0D-0A19-48C0-A722-0027D092A59F}" destId="{EB472B2A-5F2B-4217-9BAB-4AB55BAB9352}" srcOrd="0" destOrd="0" presId="urn:microsoft.com/office/officeart/2005/8/layout/process5"/>
    <dgm:cxn modelId="{68A9BE56-4AFC-487F-B3CD-5B6A45C71BBD}" type="presOf" srcId="{0F12B0BA-09D1-48C2-9166-B91DFB25BD06}" destId="{ACEA2B57-3F8C-490C-9085-17A6755EE2B6}" srcOrd="0" destOrd="0" presId="urn:microsoft.com/office/officeart/2005/8/layout/process5"/>
    <dgm:cxn modelId="{8C97E277-DBE2-455A-92C2-658CFC2FBA46}" type="presOf" srcId="{072FC468-B68B-45D5-B5E3-9DB65137CE38}" destId="{7F1D2CAE-1812-4A7F-AB93-90860A0A6E60}" srcOrd="1" destOrd="0" presId="urn:microsoft.com/office/officeart/2005/8/layout/process5"/>
    <dgm:cxn modelId="{7967EC7A-BA3E-4044-861F-5C6C1525E9E3}" srcId="{E48BD328-C01D-4F9B-A831-FB13BBC92B8A}" destId="{1F62B733-BD97-4697-8D1A-D254D97444D6}" srcOrd="1" destOrd="0" parTransId="{8254D2E2-890D-47D4-8C22-86647CDC3EE9}" sibTransId="{513BB935-8153-4665-907D-DE163F6FC85D}"/>
    <dgm:cxn modelId="{2CE72C89-4EEB-4EC4-B381-D2E47EC1943F}" type="presOf" srcId="{FA89C03B-AD5C-404E-A484-025D62B70DF4}" destId="{195E6789-D8C4-446C-8101-1A5DAD23B532}" srcOrd="1" destOrd="0" presId="urn:microsoft.com/office/officeart/2005/8/layout/process5"/>
    <dgm:cxn modelId="{2FC9429C-EF2A-4FB2-9449-2F8E5FF60D26}" srcId="{E48BD328-C01D-4F9B-A831-FB13BBC92B8A}" destId="{B233532B-5BA0-48B7-9CDD-76E98239B173}" srcOrd="0" destOrd="0" parTransId="{0C53D4AF-2762-4FF2-BBFD-1DB06BCA4808}" sibTransId="{87757E0D-0A19-48C0-A722-0027D092A59F}"/>
    <dgm:cxn modelId="{F3D5CB9C-5461-4EFF-BF38-CECBCC4BB8AE}" srcId="{E48BD328-C01D-4F9B-A831-FB13BBC92B8A}" destId="{938B0543-0223-4869-9782-FEB9B2C3405A}" srcOrd="4" destOrd="0" parTransId="{B29A8294-A86C-4430-BD6A-01E35CE9E516}" sibTransId="{072FC468-B68B-45D5-B5E3-9DB65137CE38}"/>
    <dgm:cxn modelId="{A8AB11A0-1551-43F3-9EED-077EB2311E3D}" srcId="{E48BD328-C01D-4F9B-A831-FB13BBC92B8A}" destId="{ED9C0C3A-306C-4FCE-9392-479D441063DF}" srcOrd="5" destOrd="0" parTransId="{06A1DCB8-1676-413B-8811-D4876C1EB7D4}" sibTransId="{E0C53427-3D70-4034-8B30-173EC9F067E1}"/>
    <dgm:cxn modelId="{2DC6D1AC-3A91-4D0C-B672-A65B4B9524ED}" type="presOf" srcId="{513BB935-8153-4665-907D-DE163F6FC85D}" destId="{1A517B41-0D14-4C18-B7A9-33CDB303821D}" srcOrd="0" destOrd="0" presId="urn:microsoft.com/office/officeart/2005/8/layout/process5"/>
    <dgm:cxn modelId="{1B7CA9B2-D77A-4DB6-A17B-5B195B8EC452}" type="presOf" srcId="{ED9C0C3A-306C-4FCE-9392-479D441063DF}" destId="{BB8E33D5-5944-4643-B7F0-89DE36D1B3A4}" srcOrd="0" destOrd="0" presId="urn:microsoft.com/office/officeart/2005/8/layout/process5"/>
    <dgm:cxn modelId="{D65BF9D3-E193-4AD3-AA68-DD5AA4BE715C}" type="presOf" srcId="{222AEE65-95D5-4B60-9FED-500D32726D8E}" destId="{4D8E6D19-B14F-4D12-8794-007947B2DF01}" srcOrd="0" destOrd="0" presId="urn:microsoft.com/office/officeart/2005/8/layout/process5"/>
    <dgm:cxn modelId="{20D961E5-6F85-49CB-AF3D-0AC261589F84}" type="presOf" srcId="{87757E0D-0A19-48C0-A722-0027D092A59F}" destId="{4E93ACEA-90AE-42F8-A70A-B7BA868E8630}" srcOrd="1" destOrd="0" presId="urn:microsoft.com/office/officeart/2005/8/layout/process5"/>
    <dgm:cxn modelId="{3F4E44EC-A48B-49BB-AF0B-06F7F5DC4526}" type="presOf" srcId="{1F62B733-BD97-4697-8D1A-D254D97444D6}" destId="{8CB17899-28B8-4CBA-BAD1-67DB7B3AFC77}" srcOrd="0" destOrd="0" presId="urn:microsoft.com/office/officeart/2005/8/layout/process5"/>
    <dgm:cxn modelId="{53CDF4A0-94A5-4675-A16B-540CC1D1A24E}" type="presParOf" srcId="{C7BE8537-CCF7-4480-BD8E-3BFF346967FF}" destId="{4EF13F57-5B6D-475F-BD26-93BE3FAD1EB3}" srcOrd="0" destOrd="0" presId="urn:microsoft.com/office/officeart/2005/8/layout/process5"/>
    <dgm:cxn modelId="{B6EA35A6-E9A4-4CCE-A053-348CA349FD46}" type="presParOf" srcId="{C7BE8537-CCF7-4480-BD8E-3BFF346967FF}" destId="{EB472B2A-5F2B-4217-9BAB-4AB55BAB9352}" srcOrd="1" destOrd="0" presId="urn:microsoft.com/office/officeart/2005/8/layout/process5"/>
    <dgm:cxn modelId="{1F74A124-8772-4560-95A3-474CE1B673BC}" type="presParOf" srcId="{EB472B2A-5F2B-4217-9BAB-4AB55BAB9352}" destId="{4E93ACEA-90AE-42F8-A70A-B7BA868E8630}" srcOrd="0" destOrd="0" presId="urn:microsoft.com/office/officeart/2005/8/layout/process5"/>
    <dgm:cxn modelId="{97C8964E-878B-4CDD-B84B-0EF1E78D911C}" type="presParOf" srcId="{C7BE8537-CCF7-4480-BD8E-3BFF346967FF}" destId="{8CB17899-28B8-4CBA-BAD1-67DB7B3AFC77}" srcOrd="2" destOrd="0" presId="urn:microsoft.com/office/officeart/2005/8/layout/process5"/>
    <dgm:cxn modelId="{7B7F286B-16B7-402E-AECA-AEAB18A04617}" type="presParOf" srcId="{C7BE8537-CCF7-4480-BD8E-3BFF346967FF}" destId="{1A517B41-0D14-4C18-B7A9-33CDB303821D}" srcOrd="3" destOrd="0" presId="urn:microsoft.com/office/officeart/2005/8/layout/process5"/>
    <dgm:cxn modelId="{29393445-5B1E-40CC-93CF-2314A87100AA}" type="presParOf" srcId="{1A517B41-0D14-4C18-B7A9-33CDB303821D}" destId="{BE0DB6E6-4D40-4EB7-9E58-546A8292BB9C}" srcOrd="0" destOrd="0" presId="urn:microsoft.com/office/officeart/2005/8/layout/process5"/>
    <dgm:cxn modelId="{D69124C3-84A3-4B16-9877-C7E7607E48A4}" type="presParOf" srcId="{C7BE8537-CCF7-4480-BD8E-3BFF346967FF}" destId="{4D8E6D19-B14F-4D12-8794-007947B2DF01}" srcOrd="4" destOrd="0" presId="urn:microsoft.com/office/officeart/2005/8/layout/process5"/>
    <dgm:cxn modelId="{102BAA97-B441-4F34-AB4D-C01A0F4726AE}" type="presParOf" srcId="{C7BE8537-CCF7-4480-BD8E-3BFF346967FF}" destId="{EAABDA11-0D3C-4BDD-BE53-A72E9ADE79DF}" srcOrd="5" destOrd="0" presId="urn:microsoft.com/office/officeart/2005/8/layout/process5"/>
    <dgm:cxn modelId="{F1310808-FE20-4BA7-A002-8ACDFE4ED7C9}" type="presParOf" srcId="{EAABDA11-0D3C-4BDD-BE53-A72E9ADE79DF}" destId="{195E6789-D8C4-446C-8101-1A5DAD23B532}" srcOrd="0" destOrd="0" presId="urn:microsoft.com/office/officeart/2005/8/layout/process5"/>
    <dgm:cxn modelId="{E6069D8A-3920-430B-BCBB-787A9D7A9635}" type="presParOf" srcId="{C7BE8537-CCF7-4480-BD8E-3BFF346967FF}" destId="{BA1DBFF9-3F54-4F51-A7BA-70E99CBD1A69}" srcOrd="6" destOrd="0" presId="urn:microsoft.com/office/officeart/2005/8/layout/process5"/>
    <dgm:cxn modelId="{36061D8A-EB10-4D7D-896C-2DF8391FE883}" type="presParOf" srcId="{C7BE8537-CCF7-4480-BD8E-3BFF346967FF}" destId="{ACEA2B57-3F8C-490C-9085-17A6755EE2B6}" srcOrd="7" destOrd="0" presId="urn:microsoft.com/office/officeart/2005/8/layout/process5"/>
    <dgm:cxn modelId="{682F49C1-E1FA-42ED-8655-A482AFF3BD46}" type="presParOf" srcId="{ACEA2B57-3F8C-490C-9085-17A6755EE2B6}" destId="{AE58EDAA-99DA-4516-9AB1-3EC717D321F4}" srcOrd="0" destOrd="0" presId="urn:microsoft.com/office/officeart/2005/8/layout/process5"/>
    <dgm:cxn modelId="{3A48FB75-876F-47C9-AC4B-DCA3EFDA8DBC}" type="presParOf" srcId="{C7BE8537-CCF7-4480-BD8E-3BFF346967FF}" destId="{5B48BE95-ABA7-4D64-A423-34762E70D6E7}" srcOrd="8" destOrd="0" presId="urn:microsoft.com/office/officeart/2005/8/layout/process5"/>
    <dgm:cxn modelId="{253E4840-B405-4E4E-874C-E3CAF8864BBC}" type="presParOf" srcId="{C7BE8537-CCF7-4480-BD8E-3BFF346967FF}" destId="{5F3C56DA-6C13-43F3-98CC-F4EFD35EA30C}" srcOrd="9" destOrd="0" presId="urn:microsoft.com/office/officeart/2005/8/layout/process5"/>
    <dgm:cxn modelId="{E1D52C7C-DF5E-4E14-9CE7-640C58452845}" type="presParOf" srcId="{5F3C56DA-6C13-43F3-98CC-F4EFD35EA30C}" destId="{7F1D2CAE-1812-4A7F-AB93-90860A0A6E60}" srcOrd="0" destOrd="0" presId="urn:microsoft.com/office/officeart/2005/8/layout/process5"/>
    <dgm:cxn modelId="{9FD67599-160E-4DA9-85F3-10E14368A30B}" type="presParOf" srcId="{C7BE8537-CCF7-4480-BD8E-3BFF346967FF}" destId="{BB8E33D5-5944-4643-B7F0-89DE36D1B3A4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F13F57-5B6D-475F-BD26-93BE3FAD1EB3}">
      <dsp:nvSpPr>
        <dsp:cNvPr id="0" name=""/>
        <dsp:cNvSpPr/>
      </dsp:nvSpPr>
      <dsp:spPr>
        <a:xfrm>
          <a:off x="7143" y="1001183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CarDekho Dataset</a:t>
          </a:r>
        </a:p>
      </dsp:txBody>
      <dsp:txXfrm>
        <a:off x="44665" y="1038705"/>
        <a:ext cx="2060143" cy="1206068"/>
      </dsp:txXfrm>
    </dsp:sp>
    <dsp:sp modelId="{EB472B2A-5F2B-4217-9BAB-4AB55BAB9352}">
      <dsp:nvSpPr>
        <dsp:cNvPr id="0" name=""/>
        <dsp:cNvSpPr/>
      </dsp:nvSpPr>
      <dsp:spPr>
        <a:xfrm>
          <a:off x="2330227" y="1376976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2330227" y="1482881"/>
        <a:ext cx="316861" cy="317716"/>
      </dsp:txXfrm>
    </dsp:sp>
    <dsp:sp modelId="{8CB17899-28B8-4CBA-BAD1-67DB7B3AFC77}">
      <dsp:nvSpPr>
        <dsp:cNvPr id="0" name=""/>
        <dsp:cNvSpPr/>
      </dsp:nvSpPr>
      <dsp:spPr>
        <a:xfrm>
          <a:off x="2996406" y="1001183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Data Processing</a:t>
          </a:r>
        </a:p>
      </dsp:txBody>
      <dsp:txXfrm>
        <a:off x="3033928" y="1038705"/>
        <a:ext cx="2060143" cy="1206068"/>
      </dsp:txXfrm>
    </dsp:sp>
    <dsp:sp modelId="{1A517B41-0D14-4C18-B7A9-33CDB303821D}">
      <dsp:nvSpPr>
        <dsp:cNvPr id="0" name=""/>
        <dsp:cNvSpPr/>
      </dsp:nvSpPr>
      <dsp:spPr>
        <a:xfrm>
          <a:off x="5319490" y="1376976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5319490" y="1482881"/>
        <a:ext cx="316861" cy="317716"/>
      </dsp:txXfrm>
    </dsp:sp>
    <dsp:sp modelId="{4D8E6D19-B14F-4D12-8794-007947B2DF01}">
      <dsp:nvSpPr>
        <dsp:cNvPr id="0" name=""/>
        <dsp:cNvSpPr/>
      </dsp:nvSpPr>
      <dsp:spPr>
        <a:xfrm>
          <a:off x="5985668" y="1001183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Data Analysis</a:t>
          </a:r>
        </a:p>
      </dsp:txBody>
      <dsp:txXfrm>
        <a:off x="6023190" y="1038705"/>
        <a:ext cx="2060143" cy="1206068"/>
      </dsp:txXfrm>
    </dsp:sp>
    <dsp:sp modelId="{EAABDA11-0D3C-4BDD-BE53-A72E9ADE79DF}">
      <dsp:nvSpPr>
        <dsp:cNvPr id="0" name=""/>
        <dsp:cNvSpPr/>
      </dsp:nvSpPr>
      <dsp:spPr>
        <a:xfrm rot="5400000">
          <a:off x="6826932" y="2431759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-5400000">
        <a:off x="6894404" y="2470192"/>
        <a:ext cx="317716" cy="316861"/>
      </dsp:txXfrm>
    </dsp:sp>
    <dsp:sp modelId="{BA1DBFF9-3F54-4F51-A7BA-70E99CBD1A69}">
      <dsp:nvSpPr>
        <dsp:cNvPr id="0" name=""/>
        <dsp:cNvSpPr/>
      </dsp:nvSpPr>
      <dsp:spPr>
        <a:xfrm>
          <a:off x="5985668" y="3136371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Flask Backend</a:t>
          </a:r>
        </a:p>
      </dsp:txBody>
      <dsp:txXfrm>
        <a:off x="6023190" y="3173893"/>
        <a:ext cx="2060143" cy="1206068"/>
      </dsp:txXfrm>
    </dsp:sp>
    <dsp:sp modelId="{ACEA2B57-3F8C-490C-9085-17A6755EE2B6}">
      <dsp:nvSpPr>
        <dsp:cNvPr id="0" name=""/>
        <dsp:cNvSpPr/>
      </dsp:nvSpPr>
      <dsp:spPr>
        <a:xfrm rot="10800000">
          <a:off x="5345112" y="351216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5480910" y="3618068"/>
        <a:ext cx="316861" cy="317716"/>
      </dsp:txXfrm>
    </dsp:sp>
    <dsp:sp modelId="{5B48BE95-ABA7-4D64-A423-34762E70D6E7}">
      <dsp:nvSpPr>
        <dsp:cNvPr id="0" name=""/>
        <dsp:cNvSpPr/>
      </dsp:nvSpPr>
      <dsp:spPr>
        <a:xfrm>
          <a:off x="2996406" y="3136370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Web Application</a:t>
          </a:r>
        </a:p>
      </dsp:txBody>
      <dsp:txXfrm>
        <a:off x="3033928" y="3173892"/>
        <a:ext cx="2060143" cy="1206068"/>
      </dsp:txXfrm>
    </dsp:sp>
    <dsp:sp modelId="{5F3C56DA-6C13-43F3-98CC-F4EFD35EA30C}">
      <dsp:nvSpPr>
        <dsp:cNvPr id="0" name=""/>
        <dsp:cNvSpPr/>
      </dsp:nvSpPr>
      <dsp:spPr>
        <a:xfrm rot="10800000">
          <a:off x="2355850" y="351216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 rot="10800000">
        <a:off x="2491648" y="3618068"/>
        <a:ext cx="316861" cy="317716"/>
      </dsp:txXfrm>
    </dsp:sp>
    <dsp:sp modelId="{BB8E33D5-5944-4643-B7F0-89DE36D1B3A4}">
      <dsp:nvSpPr>
        <dsp:cNvPr id="0" name=""/>
        <dsp:cNvSpPr/>
      </dsp:nvSpPr>
      <dsp:spPr>
        <a:xfrm>
          <a:off x="7143" y="3136370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Dashboard &amp; Visualization</a:t>
          </a:r>
        </a:p>
      </dsp:txBody>
      <dsp:txXfrm>
        <a:off x="44665" y="3173892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D2C7F-9541-9D2B-DD6F-D3D35F16F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AA26BC-4433-2D5F-2F50-B651FA44D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48D02-C1A2-DAD6-E13B-B96E8C8B2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27405-612C-A892-98C7-F349F9C23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9090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png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vssujeevan234/Car-Market-Trends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car-market-trends-analysis.vercel.app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9082" y="3852809"/>
            <a:ext cx="6893878" cy="1275002"/>
          </a:xfrm>
        </p:spPr>
        <p:txBody>
          <a:bodyPr>
            <a:normAutofit lnSpcReduction="10000"/>
          </a:bodyPr>
          <a:lstStyle/>
          <a:p>
            <a:pPr algn="r"/>
            <a:r>
              <a:rPr lang="en-IN" sz="3600" b="0" dirty="0">
                <a:solidFill>
                  <a:schemeClr val="tx1"/>
                </a:solidFill>
              </a:rPr>
              <a:t>-Presented By </a:t>
            </a:r>
          </a:p>
          <a:p>
            <a:pPr algn="r"/>
            <a:r>
              <a:rPr lang="en-IN" sz="3600" b="0" dirty="0">
                <a:solidFill>
                  <a:schemeClr val="tx1"/>
                </a:solidFill>
              </a:rPr>
              <a:t>Velampalli Venkata Sai Sujeevan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0894" y="2115671"/>
            <a:ext cx="5950697" cy="678330"/>
          </a:xfrm>
        </p:spPr>
        <p:txBody>
          <a:bodyPr>
            <a:noAutofit/>
          </a:bodyPr>
          <a:lstStyle/>
          <a:p>
            <a:r>
              <a:rPr lang="en-GB" sz="3600" dirty="0"/>
              <a:t>Project Title -</a:t>
            </a:r>
            <a:r>
              <a:rPr lang="en-US" sz="3600" dirty="0"/>
              <a:t>CAR MARKET TRENDS ANALYSIS</a:t>
            </a:r>
            <a:endParaRPr lang="en-IN" sz="36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3944471" y="3263153"/>
            <a:ext cx="6889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AICTE STU ID : STU658046cf7f3e11702905551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Autofit/>
          </a:bodyPr>
          <a:lstStyle/>
          <a:p>
            <a:r>
              <a:rPr lang="en-US" dirty="0"/>
              <a:t>The automobile market contains a large amount of vehicle information such as manufacturing year, selling price, present price, fuel type, kilometers driven, ownership and transmission.</a:t>
            </a:r>
          </a:p>
          <a:p>
            <a:r>
              <a:rPr lang="en-US" dirty="0"/>
              <a:t>Analyzing this information manually is difficult and time-consuming.</a:t>
            </a:r>
          </a:p>
          <a:p>
            <a:r>
              <a:rPr lang="en-US" dirty="0"/>
              <a:t>The main objective of this project is to develop a system that can analyze vehicle data automatically and provide meaningful insights about car market trends, vehicle prices, depreciation and value retention through an interactive web application.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Autofit/>
          </a:bodyPr>
          <a:lstStyle/>
          <a:p>
            <a:r>
              <a:rPr lang="en-GB" sz="2800" dirty="0"/>
              <a:t>Project Description</a:t>
            </a: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82279A-EF6A-7D3C-321A-C049295DB67F}"/>
              </a:ext>
            </a:extLst>
          </p:cNvPr>
          <p:cNvSpPr txBox="1"/>
          <p:nvPr/>
        </p:nvSpPr>
        <p:spPr>
          <a:xfrm>
            <a:off x="326571" y="1518557"/>
            <a:ext cx="9993086" cy="7986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900" dirty="0"/>
          </a:p>
          <a:p>
            <a:endParaRPr lang="en-US" sz="1900" dirty="0"/>
          </a:p>
          <a:p>
            <a:r>
              <a:rPr lang="en-US" sz="1900" dirty="0"/>
              <a:t>Car Market Trends Analysis is a web-based data analytics project developed using the CarDekho dataset.</a:t>
            </a:r>
          </a:p>
          <a:p>
            <a:r>
              <a:rPr lang="en-US" sz="1900" dirty="0"/>
              <a:t>The application processes vehicle information using Python and Pandas and presents the analysis through an interactive Flask website.</a:t>
            </a:r>
          </a:p>
          <a:p>
            <a:r>
              <a:rPr lang="en-US" sz="1900" dirty="0"/>
              <a:t>The system allows users to explore vehicle information, analyze individual vehicles and view automatically generated results from the dataset.</a:t>
            </a:r>
          </a:p>
          <a:p>
            <a:r>
              <a:rPr lang="en-US" sz="1900" dirty="0"/>
              <a:t>The project analyzes important vehicle attributes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Vehicle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Manufacturing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Selling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Present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Kilometers Diven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Fuel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Seller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Ownership</a:t>
            </a:r>
          </a:p>
          <a:p>
            <a:endParaRPr lang="en-US" sz="1900" dirty="0"/>
          </a:p>
          <a:p>
            <a:endParaRPr lang="en-US" sz="1900" dirty="0"/>
          </a:p>
          <a:p>
            <a:endParaRPr lang="en-US" sz="1900" dirty="0"/>
          </a:p>
          <a:p>
            <a:endParaRPr lang="en-US" sz="1900" dirty="0"/>
          </a:p>
          <a:p>
            <a:endParaRPr lang="en-US" sz="1900" dirty="0"/>
          </a:p>
          <a:p>
            <a:endParaRPr lang="en-US" sz="1900" dirty="0"/>
          </a:p>
          <a:p>
            <a:endParaRPr lang="en-US" sz="1900" dirty="0"/>
          </a:p>
          <a:p>
            <a:endParaRPr lang="en-US" sz="1900" dirty="0"/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3EC205-FD3A-D174-ED47-6C01DEB95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FFE0A1-E272-DD22-8B9B-31F5266F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Autofit/>
          </a:bodyPr>
          <a:lstStyle/>
          <a:p>
            <a:r>
              <a:rPr lang="en-GB" sz="3600" dirty="0"/>
              <a:t>Objectives</a:t>
            </a:r>
            <a:br>
              <a:rPr lang="en-GB" sz="3600" dirty="0"/>
            </a:br>
            <a:br>
              <a:rPr lang="en-GB" sz="3600" dirty="0"/>
            </a:br>
            <a:br>
              <a:rPr lang="en-GB" sz="3600" dirty="0"/>
            </a:br>
            <a:br>
              <a:rPr lang="en-GB" sz="3600" dirty="0"/>
            </a:b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1900AD-E548-8EE4-20D5-A653B6AF1D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5C57A7-27C8-330C-7826-49AFFF23F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880FF0-79D6-6957-6A17-CC9202356829}"/>
              </a:ext>
            </a:extLst>
          </p:cNvPr>
          <p:cNvSpPr txBox="1"/>
          <p:nvPr/>
        </p:nvSpPr>
        <p:spPr>
          <a:xfrm>
            <a:off x="326571" y="1534886"/>
            <a:ext cx="9993086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2400" dirty="0"/>
              <a:t>The main objectives of the project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analyze automobile market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identify vehicle price trends.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calculate vehicle depreciation.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calculate vehicle value retention.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analyze manufacturing year information.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study fuel type distribution.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compare manual and automatic vehicles.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identify missing values in the dataset.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provide an interactive vehicle analysis system.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visualize data using charts and graphs.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6037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338944"/>
            <a:ext cx="8292012" cy="532363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600" dirty="0"/>
              <a:t>This application can be useful for the following users: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Car Buyers</a:t>
            </a:r>
          </a:p>
          <a:p>
            <a:pPr marL="0" indent="0">
              <a:buNone/>
            </a:pPr>
            <a:r>
              <a:rPr lang="en-US" sz="1600" dirty="0"/>
              <a:t>    To understand vehicle prices and depreciation before purchasing a vehicle.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Car Sellers</a:t>
            </a:r>
          </a:p>
          <a:p>
            <a:pPr marL="0" indent="0">
              <a:buNone/>
            </a:pPr>
            <a:r>
              <a:rPr lang="en-US" sz="1600" dirty="0"/>
              <a:t>       To analyze vehicle value and selling prices.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Automobile Dealers</a:t>
            </a:r>
          </a:p>
          <a:p>
            <a:pPr marL="0" indent="0">
              <a:buNone/>
            </a:pPr>
            <a:r>
              <a:rPr lang="en-US" sz="1600" dirty="0"/>
              <a:t>      To understand vehicle market trends and pricing patterns.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Data Analysts</a:t>
            </a:r>
          </a:p>
          <a:p>
            <a:pPr marL="0" indent="0">
              <a:buNone/>
            </a:pPr>
            <a:r>
              <a:rPr lang="en-US" sz="1600" dirty="0"/>
              <a:t>      To analyze and visualize automobile datasets.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Students</a:t>
            </a:r>
          </a:p>
          <a:p>
            <a:pPr marL="0" indent="0">
              <a:buNone/>
            </a:pPr>
            <a:r>
              <a:rPr lang="en-US" sz="1600" dirty="0"/>
              <a:t>      To learn about Python, Pandas, Flask and Data Analytics.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Researchers</a:t>
            </a:r>
          </a:p>
          <a:p>
            <a:pPr marL="0" indent="0">
              <a:buNone/>
            </a:pPr>
            <a:r>
              <a:rPr lang="en-US" sz="1600" dirty="0"/>
              <a:t>      To study automobile market trends and vehicle value changes.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440872"/>
            <a:ext cx="10046070" cy="898072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6140CD8-3DA9-A647-7717-2DBE93E08840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1613043" y="1974348"/>
            <a:ext cx="1025360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for data processing and project logic.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develop the backend and connect the website with Python.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read, clean, process, and analyze the CarDekho dataset.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create the structure of the web pages.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design and style the website interface.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add interactivity such as dropdowns, dark/light mode, chatbot UI, and dynamic features.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for initial data analysis and experimentation.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create graphs and visualizations during data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Chart.js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display interactive charts on the web dashboard.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 Code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write and manage the project code.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store and manage the project source code.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Vercel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deploy the project online.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948C6-CC89-84DD-EE14-D4B95C242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E25303-BCDA-1FE6-2F64-CFEE598B2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C5D0FEF-5195-E65B-8F52-3C5CCAF7A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2F319F1-8C64-BE40-1E17-BB9126824677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1613043" y="3774840"/>
            <a:ext cx="1025360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lang="en-US" sz="1800" dirty="0"/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83B92-831C-C4DF-6548-EEB296F7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8652933" cy="1125187"/>
          </a:xfrm>
        </p:spPr>
        <p:txBody>
          <a:bodyPr>
            <a:normAutofit/>
          </a:bodyPr>
          <a:lstStyle/>
          <a:p>
            <a:r>
              <a:rPr lang="en-US" dirty="0"/>
              <a:t>Working Process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486D51E-254B-0B91-3A86-2865C8ACF0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94306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253448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3234641" cy="92751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400" dirty="0"/>
              <a:t> </a:t>
            </a:r>
            <a:r>
              <a:rPr lang="en-GB" sz="1800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hub repo link           </a:t>
            </a:r>
            <a:r>
              <a:rPr lang="en-GB" sz="1800" u="sng" dirty="0"/>
              <a:t>     </a:t>
            </a:r>
            <a:r>
              <a:rPr lang="en-GB" sz="1800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Vercel link</a:t>
            </a:r>
            <a:endParaRPr lang="en-GB" sz="1800" u="sng" dirty="0"/>
          </a:p>
          <a:p>
            <a:endParaRPr lang="en-IN" sz="4400" u="sng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3428998"/>
            <a:ext cx="4275138" cy="6660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5B42D3-7896-E8C8-FBC3-06A21B5C852D}"/>
              </a:ext>
            </a:extLst>
          </p:cNvPr>
          <p:cNvSpPr txBox="1"/>
          <p:nvPr/>
        </p:nvSpPr>
        <p:spPr>
          <a:xfrm>
            <a:off x="675957" y="1275372"/>
            <a:ext cx="88766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CarDekho dataset was analyzed using </a:t>
            </a:r>
            <a:r>
              <a:rPr lang="en-US" sz="2000" dirty="0" err="1"/>
              <a:t>Jupyter</a:t>
            </a:r>
            <a:r>
              <a:rPr lang="en-US" sz="2000" dirty="0"/>
              <a:t> Notebook with Python and Pandas. Different operations were performed to understand vehicle prices, manufacturing years, fuel types, depreciation, and other market trends.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A7AF495-FEB2-F23A-6CB5-AA4B92A63674}"/>
              </a:ext>
            </a:extLst>
          </p:cNvPr>
          <p:cNvSpPr/>
          <p:nvPr/>
        </p:nvSpPr>
        <p:spPr>
          <a:xfrm>
            <a:off x="675957" y="2782111"/>
            <a:ext cx="4499158" cy="2800517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DBAE80C-E274-6E86-8137-0B62CDFE9FA3}"/>
              </a:ext>
            </a:extLst>
          </p:cNvPr>
          <p:cNvSpPr/>
          <p:nvPr/>
        </p:nvSpPr>
        <p:spPr>
          <a:xfrm>
            <a:off x="6096000" y="2694815"/>
            <a:ext cx="4499158" cy="2800517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8186A-6F55-4FD0-822D-53B0D252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F8CE1C-392D-8A42-4957-C9B8011509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BE76492-3CE5-08ED-0C45-8DE9746E6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7F177C5-F9FB-88C8-DA01-8263DBD591CD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F14A5727-F886-92C2-8965-31138A86C01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C9F4204-EB11-A20A-B0A9-FD13B0C14AED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045C1543-1134-994E-E89F-7E5219FE8C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C85B9F3-DD38-5239-05FF-DBFCD0A61EAE}"/>
              </a:ext>
            </a:extLst>
          </p:cNvPr>
          <p:cNvSpPr/>
          <p:nvPr/>
        </p:nvSpPr>
        <p:spPr>
          <a:xfrm>
            <a:off x="345059" y="1431693"/>
            <a:ext cx="4868809" cy="5040227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787E236-883F-A668-9017-396F0C964940}"/>
              </a:ext>
            </a:extLst>
          </p:cNvPr>
          <p:cNvSpPr/>
          <p:nvPr/>
        </p:nvSpPr>
        <p:spPr>
          <a:xfrm>
            <a:off x="6470399" y="1431693"/>
            <a:ext cx="4868809" cy="5040228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9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174C51-4183-5414-F34D-30B094EC621E}"/>
              </a:ext>
            </a:extLst>
          </p:cNvPr>
          <p:cNvSpPr/>
          <p:nvPr/>
        </p:nvSpPr>
        <p:spPr>
          <a:xfrm>
            <a:off x="320982" y="1275369"/>
            <a:ext cx="5400620" cy="5389591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56086C-CF33-2C2C-32CB-C6BBF2DD7407}"/>
              </a:ext>
            </a:extLst>
          </p:cNvPr>
          <p:cNvSpPr/>
          <p:nvPr/>
        </p:nvSpPr>
        <p:spPr>
          <a:xfrm>
            <a:off x="6470399" y="1275369"/>
            <a:ext cx="4868809" cy="5293071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E0A14-5168-31D3-0485-0444D79C1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0BFC78-5CAA-0B7F-1650-E7DB010251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0289856-3BB6-BD9F-959A-230908F24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EF646D4-F82F-B9F0-02D3-ECED0F97B28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3192DF3-A9BA-1F53-05FC-6B3E32A83E1E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10EB444-232B-880D-57E8-A6503AE25DAC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ECFB7466-B76A-FCE5-2B47-65A86F576D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86C02E-E143-2F0C-56B6-E2C320942364}"/>
              </a:ext>
            </a:extLst>
          </p:cNvPr>
          <p:cNvSpPr/>
          <p:nvPr/>
        </p:nvSpPr>
        <p:spPr>
          <a:xfrm>
            <a:off x="675956" y="1275369"/>
            <a:ext cx="10663252" cy="43072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C317AD-7C63-8A31-6CE3-E02E35998B8A}"/>
              </a:ext>
            </a:extLst>
          </p:cNvPr>
          <p:cNvSpPr/>
          <p:nvPr/>
        </p:nvSpPr>
        <p:spPr>
          <a:xfrm>
            <a:off x="320982" y="1201586"/>
            <a:ext cx="11018227" cy="5656414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6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AF427-C252-35B0-24D2-B735C4ECB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DB6887-4178-78D9-AA85-92C33589E1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5FBE17C-C180-70C5-D171-54BF189B0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F81A330-C845-D2C6-4EBF-3F16BE2158A4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C5ABAA-18CC-49FD-E82B-0E1115CF5AD8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C44E9B0-BA00-72F7-CC79-F0CC6FAFC17A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1CBFE9AB-DBE4-CCF3-E727-15109BA531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A89CFA9-95C9-9DF2-76A6-D67090895785}"/>
              </a:ext>
            </a:extLst>
          </p:cNvPr>
          <p:cNvSpPr/>
          <p:nvPr/>
        </p:nvSpPr>
        <p:spPr>
          <a:xfrm>
            <a:off x="675956" y="1275370"/>
            <a:ext cx="4868809" cy="26546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17587C2-6114-B491-01EC-FB74B25A90F1}"/>
              </a:ext>
            </a:extLst>
          </p:cNvPr>
          <p:cNvSpPr/>
          <p:nvPr/>
        </p:nvSpPr>
        <p:spPr>
          <a:xfrm>
            <a:off x="422960" y="1201586"/>
            <a:ext cx="11346082" cy="5656414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81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566AD-7213-06F9-1E79-F808EA57C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ADB735-8684-2DBD-A616-0B33A4B66B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73FCA34-E0E4-8DEE-21B3-C2F67A4D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6DC04CA-730D-D39E-0219-E85C7BB87E2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C19B00-ACCC-C458-16E1-756225AF876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DE2FD0F-3A0D-C1B5-BF92-338875313A8D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4DB83CF-DDBC-E72B-E863-0D7E827A5E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C3C1DF4-DE68-F758-B7F1-E00A0C283B81}"/>
              </a:ext>
            </a:extLst>
          </p:cNvPr>
          <p:cNvSpPr/>
          <p:nvPr/>
        </p:nvSpPr>
        <p:spPr>
          <a:xfrm>
            <a:off x="675956" y="1275370"/>
            <a:ext cx="4868809" cy="26546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F4FB78B-6680-D384-DB6F-9D155769A0BC}"/>
              </a:ext>
            </a:extLst>
          </p:cNvPr>
          <p:cNvSpPr/>
          <p:nvPr/>
        </p:nvSpPr>
        <p:spPr>
          <a:xfrm>
            <a:off x="422959" y="1224570"/>
            <a:ext cx="11448059" cy="544039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7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C258A-FF4C-44E6-5ED8-CB045A995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704812-F642-D78A-68C1-FEC155139A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0A57862-7D08-08C9-25E7-00A091706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047B3CF-8ED2-0433-45A1-E5DB3938A1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2679B66-D60D-16D5-DEFE-A78EA416BB9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245123D-E938-4E5D-0D82-B7D587829299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AD334878-6970-FE7C-340B-0518D948C1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884C553-BBD1-B076-A02E-ABEFA3194B1E}"/>
              </a:ext>
            </a:extLst>
          </p:cNvPr>
          <p:cNvSpPr/>
          <p:nvPr/>
        </p:nvSpPr>
        <p:spPr>
          <a:xfrm>
            <a:off x="675956" y="1275370"/>
            <a:ext cx="4868809" cy="26546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431EE8-7540-D816-8813-E0074C9670E4}"/>
              </a:ext>
            </a:extLst>
          </p:cNvPr>
          <p:cNvSpPr/>
          <p:nvPr/>
        </p:nvSpPr>
        <p:spPr>
          <a:xfrm>
            <a:off x="422959" y="1201587"/>
            <a:ext cx="11346082" cy="5463374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3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4B223-E9B5-9CEA-DF47-FED6BEFD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2A7674-29A1-BFB6-0B79-F32CCD6B77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98E2AC8-4907-7D79-C33E-961E4BABB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4F09283-EF8D-1280-F8E2-EFB44C5BFC0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B40D765-676A-965E-8C2D-BB0D9DC6D2D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457C609-8DE3-4629-930B-33FE7E2907E5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D2533075-ADB8-7875-F978-FBA8193834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0217685-0744-0E24-6EE4-96F0F33ABFAD}"/>
              </a:ext>
            </a:extLst>
          </p:cNvPr>
          <p:cNvSpPr/>
          <p:nvPr/>
        </p:nvSpPr>
        <p:spPr>
          <a:xfrm>
            <a:off x="675956" y="1275370"/>
            <a:ext cx="4868809" cy="26546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7ACD33D-BA2B-17F1-06EF-12A7991CCDE8}"/>
              </a:ext>
            </a:extLst>
          </p:cNvPr>
          <p:cNvSpPr/>
          <p:nvPr/>
        </p:nvSpPr>
        <p:spPr>
          <a:xfrm>
            <a:off x="422959" y="1201587"/>
            <a:ext cx="11184841" cy="5463374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1581-5D11-649D-E75E-A1EBA4113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2E661B-69B7-CA15-564E-6C9D8B614B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26B1839-E2F4-F904-8D14-0765BC149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E131BE1-3E15-E684-DC52-97D077AA1043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CF44132-55E4-D423-6937-90978D580A8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CE41531-76D9-2617-E9EF-FB52ECC0EC9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787D85BB-C2F0-BEE0-B4F0-EBE9FCEE22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7DB1DCA-AF0C-D131-E21E-ABDF04CC642B}"/>
              </a:ext>
            </a:extLst>
          </p:cNvPr>
          <p:cNvSpPr/>
          <p:nvPr/>
        </p:nvSpPr>
        <p:spPr>
          <a:xfrm>
            <a:off x="675956" y="1275370"/>
            <a:ext cx="4868809" cy="26546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FEC102-01BE-321B-48A1-B214DA19959C}"/>
              </a:ext>
            </a:extLst>
          </p:cNvPr>
          <p:cNvSpPr/>
          <p:nvPr/>
        </p:nvSpPr>
        <p:spPr>
          <a:xfrm>
            <a:off x="422959" y="1201587"/>
            <a:ext cx="11184841" cy="5463374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22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05AF1-FCFA-EC0D-EAC9-8FDC32FDE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E1F10B-DE20-EED6-8C24-C3F2BD7234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224F7F0-D816-7F0C-8488-F9E74303E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3629E29-9E38-830A-7348-6FC6F54DBDD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B39E78C-688A-CB5F-B4B7-6CD46DB8341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29DC740-C749-12E5-B907-82AF3A109A42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0672CEE-6E3E-79FE-5B42-D018746476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6FD7914-1D96-EF07-30BC-F0E4D25F2E9B}"/>
              </a:ext>
            </a:extLst>
          </p:cNvPr>
          <p:cNvSpPr/>
          <p:nvPr/>
        </p:nvSpPr>
        <p:spPr>
          <a:xfrm>
            <a:off x="675956" y="1275370"/>
            <a:ext cx="4868809" cy="26546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F8DADF-DF37-E407-61DF-580F97521AC9}"/>
              </a:ext>
            </a:extLst>
          </p:cNvPr>
          <p:cNvSpPr/>
          <p:nvPr/>
        </p:nvSpPr>
        <p:spPr>
          <a:xfrm>
            <a:off x="422959" y="1201587"/>
            <a:ext cx="11346082" cy="5463374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8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348708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645</TotalTime>
  <Words>693</Words>
  <Application>Microsoft Office PowerPoint</Application>
  <PresentationFormat>Widescreen</PresentationFormat>
  <Paragraphs>123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Trebuchet MS</vt:lpstr>
      <vt:lpstr>Wingdings</vt:lpstr>
      <vt:lpstr>Wingdings 3</vt:lpstr>
      <vt:lpstr>Facet</vt:lpstr>
      <vt:lpstr>Project Title -CAR MARKET TRENDS ANALYSIS</vt:lpstr>
      <vt:lpstr>PROBLEM  STATEMENT</vt:lpstr>
      <vt:lpstr>Project Description    </vt:lpstr>
      <vt:lpstr>Objectives    </vt:lpstr>
      <vt:lpstr>WHO ARE THE END USERS?</vt:lpstr>
      <vt:lpstr>Technology Used</vt:lpstr>
      <vt:lpstr>Working Process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VVS Sujeevan</cp:lastModifiedBy>
  <cp:revision>77</cp:revision>
  <dcterms:created xsi:type="dcterms:W3CDTF">2021-07-11T13:13:15Z</dcterms:created>
  <dcterms:modified xsi:type="dcterms:W3CDTF">2026-09-05T04:53:16Z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